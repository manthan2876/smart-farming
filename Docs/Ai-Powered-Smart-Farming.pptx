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Semi-Bold" charset="1" panose="00000700000000000000"/>
      <p:regular r:id="rId17"/>
    </p:embeddedFont>
    <p:embeddedFont>
      <p:font typeface="Glacial Indifference" charset="1" panose="00000000000000000000"/>
      <p:regular r:id="rId18"/>
    </p:embeddedFont>
    <p:embeddedFont>
      <p:font typeface="Poppins Bold" charset="1" panose="00000800000000000000"/>
      <p:regular r:id="rId19"/>
    </p:embeddedFont>
    <p:embeddedFont>
      <p:font typeface="DM Sans" charset="1" panose="00000000000000000000"/>
      <p:regular r:id="rId20"/>
    </p:embeddedFont>
    <p:embeddedFont>
      <p:font typeface="DM Sans Bold" charset="1" panose="00000000000000000000"/>
      <p:regular r:id="rId21"/>
    </p:embeddedFont>
    <p:embeddedFont>
      <p:font typeface="Poppin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90980" y="-712357"/>
            <a:ext cx="22453902" cy="11711713"/>
            <a:chOff x="0" y="0"/>
            <a:chExt cx="5913785" cy="3084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371887" y="4261485"/>
            <a:ext cx="13066873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b="true" sz="6999" spc="-377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AI-POWERED SMART FARMING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83350" y="3663315"/>
            <a:ext cx="3705242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3500" spc="-189">
                <a:solidFill>
                  <a:srgbClr val="1C21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IT452 - Minor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08450" y="5486319"/>
            <a:ext cx="4071099" cy="304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500" spc="-135">
                <a:solidFill>
                  <a:srgbClr val="1C21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Guided By : Prof. Rajnik Katariya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20505" y="6133939"/>
            <a:ext cx="3446991" cy="83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500" spc="-135">
                <a:solidFill>
                  <a:srgbClr val="1C21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Member : </a:t>
            </a:r>
          </a:p>
          <a:p>
            <a:pPr algn="ctr">
              <a:lnSpc>
                <a:spcPts val="2100"/>
              </a:lnSpc>
            </a:pPr>
            <a:r>
              <a:rPr lang="en-US" sz="2500" spc="-135">
                <a:solidFill>
                  <a:srgbClr val="1C21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Kunj Lunagariya</a:t>
            </a:r>
          </a:p>
          <a:p>
            <a:pPr algn="ctr">
              <a:lnSpc>
                <a:spcPts val="2100"/>
              </a:lnSpc>
            </a:pPr>
            <a:r>
              <a:rPr lang="en-US" sz="2500" spc="-135">
                <a:solidFill>
                  <a:srgbClr val="1C21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Manthan Kuvadiya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37777"/>
            <a:ext cx="16230600" cy="8220523"/>
            <a:chOff x="0" y="0"/>
            <a:chExt cx="4274726" cy="21650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5076"/>
            </a:xfrm>
            <a:custGeom>
              <a:avLst/>
              <a:gdLst/>
              <a:ahLst/>
              <a:cxnLst/>
              <a:rect r="r" b="b" t="t" l="l"/>
              <a:pathLst>
                <a:path h="2165076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5076"/>
                  </a:lnTo>
                  <a:lnTo>
                    <a:pt x="0" y="21650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3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082951" y="-1035172"/>
            <a:ext cx="22453902" cy="11711713"/>
            <a:chOff x="0" y="0"/>
            <a:chExt cx="5913785" cy="30845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30224" y="1866247"/>
            <a:ext cx="4052127" cy="96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9"/>
              </a:lnSpc>
            </a:pPr>
            <a:r>
              <a:rPr lang="en-US" sz="6999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Outline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30224" y="3128716"/>
            <a:ext cx="9361715" cy="250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374"/>
              </a:lnSpc>
              <a:buFont typeface="Arial"/>
              <a:buChar char="•"/>
            </a:pPr>
            <a:r>
              <a:rPr lang="en-US" sz="2499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Technology Stack</a:t>
            </a:r>
          </a:p>
          <a:p>
            <a:pPr algn="l" marL="539749" indent="-269875" lvl="1">
              <a:lnSpc>
                <a:spcPts val="3374"/>
              </a:lnSpc>
              <a:buFont typeface="Arial"/>
              <a:buChar char="•"/>
            </a:pPr>
            <a:r>
              <a:rPr lang="en-US" sz="2499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Key Functionalities</a:t>
            </a:r>
          </a:p>
          <a:p>
            <a:pPr algn="l" marL="539749" indent="-269875" lvl="1">
              <a:lnSpc>
                <a:spcPts val="3374"/>
              </a:lnSpc>
              <a:buFont typeface="Arial"/>
              <a:buChar char="•"/>
            </a:pPr>
            <a:r>
              <a:rPr lang="en-US" sz="2499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Project </a:t>
            </a:r>
            <a:r>
              <a:rPr lang="en-US" sz="2499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Implementation Plan &amp; Proposed Solution</a:t>
            </a:r>
          </a:p>
          <a:p>
            <a:pPr algn="l" marL="539749" indent="-269875" lvl="1">
              <a:lnSpc>
                <a:spcPts val="3374"/>
              </a:lnSpc>
              <a:buFont typeface="Arial"/>
              <a:buChar char="•"/>
            </a:pPr>
            <a:r>
              <a:rPr lang="en-US" sz="2499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Current Progress &amp; What We Have Built</a:t>
            </a:r>
          </a:p>
          <a:p>
            <a:pPr algn="l" marL="539749" indent="-269875" lvl="1">
              <a:lnSpc>
                <a:spcPts val="3374"/>
              </a:lnSpc>
              <a:buFont typeface="Arial"/>
              <a:buChar char="•"/>
            </a:pPr>
            <a:r>
              <a:rPr lang="en-US" sz="2499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Current Results</a:t>
            </a:r>
          </a:p>
          <a:p>
            <a:pPr algn="l" marL="539749" indent="-269875" lvl="1">
              <a:lnSpc>
                <a:spcPts val="3374"/>
              </a:lnSpc>
              <a:buFont typeface="Arial"/>
              <a:buChar char="•"/>
            </a:pPr>
            <a:r>
              <a:rPr lang="en-US" sz="2499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Next Development Plan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40015" y="-830780"/>
            <a:ext cx="22453902" cy="11711713"/>
            <a:chOff x="0" y="0"/>
            <a:chExt cx="5913785" cy="30845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57788" y="-177024"/>
            <a:ext cx="7097803" cy="11057957"/>
          </a:xfrm>
          <a:custGeom>
            <a:avLst/>
            <a:gdLst/>
            <a:ahLst/>
            <a:cxnLst/>
            <a:rect r="r" b="b" t="t" l="l"/>
            <a:pathLst>
              <a:path h="11057957" w="7097803">
                <a:moveTo>
                  <a:pt x="0" y="0"/>
                </a:moveTo>
                <a:lnTo>
                  <a:pt x="7097803" y="0"/>
                </a:lnTo>
                <a:lnTo>
                  <a:pt x="7097803" y="11057957"/>
                </a:lnTo>
                <a:lnTo>
                  <a:pt x="0" y="1105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51" t="0" r="-835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454808" y="1095375"/>
            <a:ext cx="7824561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0"/>
              </a:lnSpc>
            </a:pPr>
            <a:r>
              <a:rPr lang="en-US" sz="600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47096" y="2224834"/>
            <a:ext cx="9812204" cy="110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499" spc="14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Introduction:</a:t>
            </a:r>
            <a:r>
              <a:rPr lang="en-US" sz="2499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Agriculture faces several challenges that affect crop productivity and farmer decision-making.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54808" y="3610721"/>
            <a:ext cx="9812204" cy="248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500" spc="15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Key Challenges:</a:t>
            </a:r>
            <a:r>
              <a:rPr lang="en-US" sz="2500" spc="1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Crop diseases are often identified after significant damage has occurred.</a:t>
            </a:r>
          </a:p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Pest attacks are difficult to identify at an early stage.</a:t>
            </a:r>
          </a:p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Farmers may not always have immediate access to expert guidance.</a:t>
            </a:r>
          </a:p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Crop health monitoring is still largely manual and time-consuming.</a:t>
            </a:r>
          </a:p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lack of integrated insights makes timely decision-making difficult.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47096" y="6377734"/>
            <a:ext cx="9812204" cy="178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499" spc="14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Objective:</a:t>
            </a:r>
            <a:r>
              <a:rPr lang="en-US" sz="2499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develop an AI-powered smart farming system that analyzes crop images, identifies crop health conditions, assesses disease severity, analyzes pest presence, and ultimately provides actionable recommendations to farmers.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15490" y="-712357"/>
            <a:ext cx="22453902" cy="11711713"/>
            <a:chOff x="0" y="0"/>
            <a:chExt cx="5913785" cy="30845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553173" y="1000125"/>
            <a:ext cx="7181654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600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Technology Stack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28648" y="3568184"/>
            <a:ext cx="2050969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Py</a:t>
            </a: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thon</a:t>
            </a:r>
          </a:p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OpenCV</a:t>
            </a:r>
          </a:p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PyTorch</a:t>
            </a:r>
          </a:p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EfficientNet</a:t>
            </a:r>
          </a:p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YOLO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436073" y="2766787"/>
            <a:ext cx="1036119" cy="582575"/>
            <a:chOff x="0" y="0"/>
            <a:chExt cx="272887" cy="1534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2887" cy="153435"/>
            </a:xfrm>
            <a:custGeom>
              <a:avLst/>
              <a:gdLst/>
              <a:ahLst/>
              <a:cxnLst/>
              <a:rect r="r" b="b" t="t" l="l"/>
              <a:pathLst>
                <a:path h="153435" w="272887">
                  <a:moveTo>
                    <a:pt x="76718" y="0"/>
                  </a:moveTo>
                  <a:lnTo>
                    <a:pt x="196170" y="0"/>
                  </a:lnTo>
                  <a:cubicBezTo>
                    <a:pt x="216516" y="0"/>
                    <a:pt x="236030" y="8083"/>
                    <a:pt x="250417" y="22470"/>
                  </a:cubicBezTo>
                  <a:cubicBezTo>
                    <a:pt x="264805" y="36857"/>
                    <a:pt x="272887" y="56371"/>
                    <a:pt x="272887" y="76718"/>
                  </a:cubicBezTo>
                  <a:lnTo>
                    <a:pt x="272887" y="76718"/>
                  </a:lnTo>
                  <a:cubicBezTo>
                    <a:pt x="272887" y="97064"/>
                    <a:pt x="264805" y="116578"/>
                    <a:pt x="250417" y="130965"/>
                  </a:cubicBezTo>
                  <a:cubicBezTo>
                    <a:pt x="236030" y="145353"/>
                    <a:pt x="216516" y="153435"/>
                    <a:pt x="196170" y="153435"/>
                  </a:cubicBezTo>
                  <a:lnTo>
                    <a:pt x="76718" y="153435"/>
                  </a:lnTo>
                  <a:cubicBezTo>
                    <a:pt x="56371" y="153435"/>
                    <a:pt x="36857" y="145353"/>
                    <a:pt x="22470" y="130965"/>
                  </a:cubicBezTo>
                  <a:cubicBezTo>
                    <a:pt x="8083" y="116578"/>
                    <a:pt x="0" y="97064"/>
                    <a:pt x="0" y="76718"/>
                  </a:cubicBezTo>
                  <a:lnTo>
                    <a:pt x="0" y="76718"/>
                  </a:lnTo>
                  <a:cubicBezTo>
                    <a:pt x="0" y="56371"/>
                    <a:pt x="8083" y="36857"/>
                    <a:pt x="22470" y="22470"/>
                  </a:cubicBezTo>
                  <a:cubicBezTo>
                    <a:pt x="36857" y="8083"/>
                    <a:pt x="56371" y="0"/>
                    <a:pt x="7671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2887" cy="191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637389" y="2903287"/>
            <a:ext cx="643163" cy="3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sz="219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41082" y="3619923"/>
            <a:ext cx="3940758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FastAPI</a:t>
            </a:r>
          </a:p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Py</a:t>
            </a: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thon-based AI Pipeline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599154" y="2818507"/>
            <a:ext cx="2327378" cy="582575"/>
            <a:chOff x="0" y="0"/>
            <a:chExt cx="612972" cy="1534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2972" cy="153435"/>
            </a:xfrm>
            <a:custGeom>
              <a:avLst/>
              <a:gdLst/>
              <a:ahLst/>
              <a:cxnLst/>
              <a:rect r="r" b="b" t="t" l="l"/>
              <a:pathLst>
                <a:path h="153435" w="612972">
                  <a:moveTo>
                    <a:pt x="76718" y="0"/>
                  </a:moveTo>
                  <a:lnTo>
                    <a:pt x="536254" y="0"/>
                  </a:lnTo>
                  <a:cubicBezTo>
                    <a:pt x="578624" y="0"/>
                    <a:pt x="612972" y="34348"/>
                    <a:pt x="612972" y="76718"/>
                  </a:cubicBezTo>
                  <a:lnTo>
                    <a:pt x="612972" y="76718"/>
                  </a:lnTo>
                  <a:cubicBezTo>
                    <a:pt x="612972" y="97064"/>
                    <a:pt x="604889" y="116578"/>
                    <a:pt x="590502" y="130965"/>
                  </a:cubicBezTo>
                  <a:cubicBezTo>
                    <a:pt x="576115" y="145353"/>
                    <a:pt x="556601" y="153435"/>
                    <a:pt x="536254" y="153435"/>
                  </a:cubicBezTo>
                  <a:lnTo>
                    <a:pt x="76718" y="153435"/>
                  </a:lnTo>
                  <a:cubicBezTo>
                    <a:pt x="56371" y="153435"/>
                    <a:pt x="36857" y="145353"/>
                    <a:pt x="22470" y="130965"/>
                  </a:cubicBezTo>
                  <a:cubicBezTo>
                    <a:pt x="8083" y="116578"/>
                    <a:pt x="0" y="97064"/>
                    <a:pt x="0" y="76718"/>
                  </a:cubicBezTo>
                  <a:lnTo>
                    <a:pt x="0" y="76718"/>
                  </a:lnTo>
                  <a:cubicBezTo>
                    <a:pt x="0" y="56371"/>
                    <a:pt x="8083" y="36857"/>
                    <a:pt x="22470" y="22470"/>
                  </a:cubicBezTo>
                  <a:cubicBezTo>
                    <a:pt x="36857" y="8083"/>
                    <a:pt x="56371" y="0"/>
                    <a:pt x="7671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12972" cy="191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051359" y="2955007"/>
            <a:ext cx="1444703" cy="3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sz="219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28648" y="6889330"/>
            <a:ext cx="555728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LLM-based Recommendation System</a:t>
            </a:r>
          </a:p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Wea</a:t>
            </a: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ther Data Integration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928648" y="6087896"/>
            <a:ext cx="5557280" cy="582575"/>
            <a:chOff x="0" y="0"/>
            <a:chExt cx="1463646" cy="1534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646" cy="153435"/>
            </a:xfrm>
            <a:custGeom>
              <a:avLst/>
              <a:gdLst/>
              <a:ahLst/>
              <a:cxnLst/>
              <a:rect r="r" b="b" t="t" l="l"/>
              <a:pathLst>
                <a:path h="153435" w="1463646">
                  <a:moveTo>
                    <a:pt x="71049" y="0"/>
                  </a:moveTo>
                  <a:lnTo>
                    <a:pt x="1392597" y="0"/>
                  </a:lnTo>
                  <a:cubicBezTo>
                    <a:pt x="1411440" y="0"/>
                    <a:pt x="1429512" y="7485"/>
                    <a:pt x="1442836" y="20810"/>
                  </a:cubicBezTo>
                  <a:cubicBezTo>
                    <a:pt x="1456160" y="34134"/>
                    <a:pt x="1463646" y="52205"/>
                    <a:pt x="1463646" y="71049"/>
                  </a:cubicBezTo>
                  <a:lnTo>
                    <a:pt x="1463646" y="82386"/>
                  </a:lnTo>
                  <a:cubicBezTo>
                    <a:pt x="1463646" y="101230"/>
                    <a:pt x="1456160" y="119301"/>
                    <a:pt x="1442836" y="132626"/>
                  </a:cubicBezTo>
                  <a:cubicBezTo>
                    <a:pt x="1429512" y="145950"/>
                    <a:pt x="1411440" y="153435"/>
                    <a:pt x="1392597" y="153435"/>
                  </a:cubicBezTo>
                  <a:lnTo>
                    <a:pt x="71049" y="153435"/>
                  </a:lnTo>
                  <a:cubicBezTo>
                    <a:pt x="52205" y="153435"/>
                    <a:pt x="34134" y="145950"/>
                    <a:pt x="20810" y="132626"/>
                  </a:cubicBezTo>
                  <a:cubicBezTo>
                    <a:pt x="7485" y="119301"/>
                    <a:pt x="0" y="101230"/>
                    <a:pt x="0" y="82386"/>
                  </a:cubicBezTo>
                  <a:lnTo>
                    <a:pt x="0" y="71049"/>
                  </a:lnTo>
                  <a:cubicBezTo>
                    <a:pt x="0" y="52205"/>
                    <a:pt x="7485" y="34134"/>
                    <a:pt x="20810" y="20810"/>
                  </a:cubicBezTo>
                  <a:cubicBezTo>
                    <a:pt x="34134" y="7485"/>
                    <a:pt x="52205" y="0"/>
                    <a:pt x="71049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463646" cy="191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008417" y="6224396"/>
            <a:ext cx="3449640" cy="3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sz="219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Future Intelligence Layer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645818" y="6889330"/>
            <a:ext cx="392168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Web / Mobile Das</a:t>
            </a: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hboard</a:t>
            </a:r>
          </a:p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Database &amp; Cloud Storage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02072" y="6087896"/>
            <a:ext cx="5557280" cy="582575"/>
            <a:chOff x="0" y="0"/>
            <a:chExt cx="1463646" cy="1534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3646" cy="153435"/>
            </a:xfrm>
            <a:custGeom>
              <a:avLst/>
              <a:gdLst/>
              <a:ahLst/>
              <a:cxnLst/>
              <a:rect r="r" b="b" t="t" l="l"/>
              <a:pathLst>
                <a:path h="153435" w="1463646">
                  <a:moveTo>
                    <a:pt x="71049" y="0"/>
                  </a:moveTo>
                  <a:lnTo>
                    <a:pt x="1392597" y="0"/>
                  </a:lnTo>
                  <a:cubicBezTo>
                    <a:pt x="1411440" y="0"/>
                    <a:pt x="1429512" y="7485"/>
                    <a:pt x="1442836" y="20810"/>
                  </a:cubicBezTo>
                  <a:cubicBezTo>
                    <a:pt x="1456160" y="34134"/>
                    <a:pt x="1463646" y="52205"/>
                    <a:pt x="1463646" y="71049"/>
                  </a:cubicBezTo>
                  <a:lnTo>
                    <a:pt x="1463646" y="82386"/>
                  </a:lnTo>
                  <a:cubicBezTo>
                    <a:pt x="1463646" y="101230"/>
                    <a:pt x="1456160" y="119301"/>
                    <a:pt x="1442836" y="132626"/>
                  </a:cubicBezTo>
                  <a:cubicBezTo>
                    <a:pt x="1429512" y="145950"/>
                    <a:pt x="1411440" y="153435"/>
                    <a:pt x="1392597" y="153435"/>
                  </a:cubicBezTo>
                  <a:lnTo>
                    <a:pt x="71049" y="153435"/>
                  </a:lnTo>
                  <a:cubicBezTo>
                    <a:pt x="52205" y="153435"/>
                    <a:pt x="34134" y="145950"/>
                    <a:pt x="20810" y="132626"/>
                  </a:cubicBezTo>
                  <a:cubicBezTo>
                    <a:pt x="7485" y="119301"/>
                    <a:pt x="0" y="101230"/>
                    <a:pt x="0" y="82386"/>
                  </a:cubicBezTo>
                  <a:lnTo>
                    <a:pt x="0" y="71049"/>
                  </a:lnTo>
                  <a:cubicBezTo>
                    <a:pt x="0" y="52205"/>
                    <a:pt x="7485" y="34134"/>
                    <a:pt x="20810" y="20810"/>
                  </a:cubicBezTo>
                  <a:cubicBezTo>
                    <a:pt x="34134" y="7485"/>
                    <a:pt x="52205" y="0"/>
                    <a:pt x="71049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463646" cy="191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881840" y="6224396"/>
            <a:ext cx="3449640" cy="3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sz="219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Future Application Layer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80939" y="3619923"/>
            <a:ext cx="205096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React.js</a:t>
            </a:r>
          </a:p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HTML</a:t>
            </a:r>
          </a:p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CSS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053494" y="2818507"/>
            <a:ext cx="2305857" cy="582575"/>
            <a:chOff x="0" y="0"/>
            <a:chExt cx="607304" cy="15343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07304" cy="153435"/>
            </a:xfrm>
            <a:custGeom>
              <a:avLst/>
              <a:gdLst/>
              <a:ahLst/>
              <a:cxnLst/>
              <a:rect r="r" b="b" t="t" l="l"/>
              <a:pathLst>
                <a:path h="153435" w="607304">
                  <a:moveTo>
                    <a:pt x="76718" y="0"/>
                  </a:moveTo>
                  <a:lnTo>
                    <a:pt x="530586" y="0"/>
                  </a:lnTo>
                  <a:cubicBezTo>
                    <a:pt x="550933" y="0"/>
                    <a:pt x="570447" y="8083"/>
                    <a:pt x="584834" y="22470"/>
                  </a:cubicBezTo>
                  <a:cubicBezTo>
                    <a:pt x="599221" y="36857"/>
                    <a:pt x="607304" y="56371"/>
                    <a:pt x="607304" y="76718"/>
                  </a:cubicBezTo>
                  <a:lnTo>
                    <a:pt x="607304" y="76718"/>
                  </a:lnTo>
                  <a:cubicBezTo>
                    <a:pt x="607304" y="97064"/>
                    <a:pt x="599221" y="116578"/>
                    <a:pt x="584834" y="130965"/>
                  </a:cubicBezTo>
                  <a:cubicBezTo>
                    <a:pt x="570447" y="145353"/>
                    <a:pt x="550933" y="153435"/>
                    <a:pt x="530586" y="153435"/>
                  </a:cubicBezTo>
                  <a:lnTo>
                    <a:pt x="76718" y="153435"/>
                  </a:lnTo>
                  <a:cubicBezTo>
                    <a:pt x="56371" y="153435"/>
                    <a:pt x="36857" y="145353"/>
                    <a:pt x="22470" y="130965"/>
                  </a:cubicBezTo>
                  <a:cubicBezTo>
                    <a:pt x="8083" y="116578"/>
                    <a:pt x="0" y="97064"/>
                    <a:pt x="0" y="76718"/>
                  </a:cubicBezTo>
                  <a:lnTo>
                    <a:pt x="0" y="76718"/>
                  </a:lnTo>
                  <a:cubicBezTo>
                    <a:pt x="0" y="56371"/>
                    <a:pt x="8083" y="36857"/>
                    <a:pt x="22470" y="22470"/>
                  </a:cubicBezTo>
                  <a:cubicBezTo>
                    <a:pt x="36857" y="8083"/>
                    <a:pt x="56371" y="0"/>
                    <a:pt x="7671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07304" cy="191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3501518" y="2955007"/>
            <a:ext cx="1431344" cy="3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sz="219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69340" y="-827934"/>
            <a:ext cx="22453902" cy="11711713"/>
            <a:chOff x="0" y="0"/>
            <a:chExt cx="5913785" cy="30845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144473" y="828560"/>
            <a:ext cx="7999053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9"/>
              </a:lnSpc>
            </a:pPr>
            <a:r>
              <a:rPr lang="en-US" b="true" sz="60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Functionalities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19378" y="2181736"/>
            <a:ext cx="6443465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00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📷 Image-Based Crop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9378" y="2746562"/>
            <a:ext cx="7532227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Allows farmers to seamlessly ca</a:t>
            </a: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pture photos via a mobile camera or upload existing images, automatically performing initial checks for image quality, resolution, and leaf presence before pipeline execution.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2181736"/>
            <a:ext cx="6443465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00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🌿 Crop Identification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2746562"/>
            <a:ext cx="753222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Automatically de</a:t>
            </a: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tects and categorizes the specific crop type from the uploaded imagery to ensure the system routes data to the correct, customized crop-specific disease model.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4527737"/>
            <a:ext cx="6443465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00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📊 Severity Estimation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5092562"/>
            <a:ext cx="753222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Calcula</a:t>
            </a: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tes the exact percentage of affected crop leaf area to quantify how widespread the damage is, moving beyond binary results to provide an objective measure of infection intensity.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870637"/>
            <a:ext cx="6443465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00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🩺 Disease Classification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435462"/>
            <a:ext cx="753222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Analyzes foliage health to precisely </a:t>
            </a: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pinpoint crop-specific diseases, infections, or deficiencies utilizing deep-learning models trained on extensive agricultural datasets.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6873737"/>
            <a:ext cx="6789696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00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🤖 Smart Recommendations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7438563"/>
            <a:ext cx="753222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Transla</a:t>
            </a: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tes raw AI diagnostics into clear, step-by-step, actionable guidance for farmers, designed to integrate weather context and regional factors to suggest precise preventive measures.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9378" y="7216637"/>
            <a:ext cx="6443465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00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🐛 Pest Classification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9378" y="7781463"/>
            <a:ext cx="753222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00"/>
              </a:lnSpc>
              <a:buFont typeface="Arial"/>
              <a:buChar char="•"/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Identifies the primary pest classes </a:t>
            </a: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present on the crop from visual indicators, providing confidence scores for potential threats (such as leaf miners or aphids) to guide targeted treatment.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90980" y="-712357"/>
            <a:ext cx="22453902" cy="11711713"/>
            <a:chOff x="0" y="0"/>
            <a:chExt cx="5913785" cy="30845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236856"/>
            <a:ext cx="1140347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600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Implementation Plan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3465126"/>
            <a:ext cx="3442236" cy="4168611"/>
            <a:chOff x="0" y="0"/>
            <a:chExt cx="906597" cy="10979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6597" cy="1097906"/>
            </a:xfrm>
            <a:custGeom>
              <a:avLst/>
              <a:gdLst/>
              <a:ahLst/>
              <a:cxnLst/>
              <a:rect r="r" b="b" t="t" l="l"/>
              <a:pathLst>
                <a:path h="1097906" w="906597">
                  <a:moveTo>
                    <a:pt x="703397" y="0"/>
                  </a:moveTo>
                  <a:lnTo>
                    <a:pt x="0" y="0"/>
                  </a:lnTo>
                  <a:lnTo>
                    <a:pt x="0" y="1097906"/>
                  </a:lnTo>
                  <a:lnTo>
                    <a:pt x="703397" y="1097906"/>
                  </a:lnTo>
                  <a:lnTo>
                    <a:pt x="906597" y="548953"/>
                  </a:lnTo>
                  <a:lnTo>
                    <a:pt x="703397" y="0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792297" cy="1126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763873" y="3465126"/>
            <a:ext cx="5101972" cy="4168611"/>
            <a:chOff x="0" y="0"/>
            <a:chExt cx="1343729" cy="10979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3729" cy="1097906"/>
            </a:xfrm>
            <a:custGeom>
              <a:avLst/>
              <a:gdLst/>
              <a:ahLst/>
              <a:cxnLst/>
              <a:rect r="r" b="b" t="t" l="l"/>
              <a:pathLst>
                <a:path h="1097906" w="1343729">
                  <a:moveTo>
                    <a:pt x="0" y="0"/>
                  </a:moveTo>
                  <a:lnTo>
                    <a:pt x="1140529" y="0"/>
                  </a:lnTo>
                  <a:lnTo>
                    <a:pt x="1343729" y="548953"/>
                  </a:lnTo>
                  <a:lnTo>
                    <a:pt x="1140529" y="1097906"/>
                  </a:lnTo>
                  <a:lnTo>
                    <a:pt x="0" y="1097906"/>
                  </a:lnTo>
                  <a:lnTo>
                    <a:pt x="203200" y="548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28575"/>
              <a:ext cx="1089729" cy="1126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153921" y="3465126"/>
            <a:ext cx="4920083" cy="4168611"/>
            <a:chOff x="0" y="0"/>
            <a:chExt cx="1295824" cy="10979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95824" cy="1097906"/>
            </a:xfrm>
            <a:custGeom>
              <a:avLst/>
              <a:gdLst/>
              <a:ahLst/>
              <a:cxnLst/>
              <a:rect r="r" b="b" t="t" l="l"/>
              <a:pathLst>
                <a:path h="1097906" w="1295824">
                  <a:moveTo>
                    <a:pt x="0" y="0"/>
                  </a:moveTo>
                  <a:lnTo>
                    <a:pt x="1092624" y="0"/>
                  </a:lnTo>
                  <a:lnTo>
                    <a:pt x="1295824" y="548953"/>
                  </a:lnTo>
                  <a:lnTo>
                    <a:pt x="1092624" y="1097906"/>
                  </a:lnTo>
                  <a:lnTo>
                    <a:pt x="0" y="1097906"/>
                  </a:lnTo>
                  <a:lnTo>
                    <a:pt x="203200" y="548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77800" y="-28575"/>
              <a:ext cx="1041824" cy="1126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87853" y="4303946"/>
            <a:ext cx="2735173" cy="2490971"/>
            <a:chOff x="0" y="0"/>
            <a:chExt cx="3646897" cy="3321295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047995"/>
              <a:ext cx="3646897" cy="2273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sz="2000" spc="12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</a:t>
              </a:r>
              <a:r>
                <a:rPr lang="en-US" sz="2000" spc="120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apture Crop Image</a:t>
              </a:r>
            </a:p>
            <a:p>
              <a:pPr algn="ctr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sz="2000" spc="120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↓</a:t>
              </a:r>
            </a:p>
            <a:p>
              <a:pPr algn="ctr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sz="2000" spc="120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Image Quality Analysis &amp; Leaf Detection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38100"/>
              <a:ext cx="3646897" cy="901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b="true" sz="2000" spc="120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Image Understanding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974702" y="4533902"/>
            <a:ext cx="3121687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Crop Identification</a:t>
            </a:r>
          </a:p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↓</a:t>
            </a:r>
          </a:p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Crop-Specific Disease Analysis</a:t>
            </a:r>
          </a:p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↓</a:t>
            </a:r>
          </a:p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Severity Estimation</a:t>
            </a:r>
          </a:p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↓</a:t>
            </a:r>
          </a:p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Pest Classification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67959" y="4054820"/>
            <a:ext cx="273517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000" spc="12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  <a:r>
              <a:rPr lang="en-US" b="true" sz="2000" spc="120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 Analysis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48065" y="4439526"/>
            <a:ext cx="3212631" cy="2490971"/>
            <a:chOff x="0" y="0"/>
            <a:chExt cx="4283508" cy="3321295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1047995"/>
              <a:ext cx="4283508" cy="2273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sz="2000" spc="12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We</a:t>
              </a:r>
              <a:r>
                <a:rPr lang="en-US" sz="2000" spc="120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ather &amp; Context Data</a:t>
              </a:r>
            </a:p>
            <a:p>
              <a:pPr algn="ctr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sz="2000" spc="120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↓</a:t>
              </a:r>
            </a:p>
            <a:p>
              <a:pPr algn="ctr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sz="2000" spc="120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Smart Recommendation Engine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-38100"/>
              <a:ext cx="4283508" cy="901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b="true" sz="2000" spc="12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</a:t>
              </a:r>
              <a:r>
                <a:rPr lang="en-US" b="true" sz="2000" spc="120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mart Decision Support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39217" y="3465126"/>
            <a:ext cx="4920083" cy="4168611"/>
            <a:chOff x="0" y="0"/>
            <a:chExt cx="1295824" cy="109790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95824" cy="1097906"/>
            </a:xfrm>
            <a:custGeom>
              <a:avLst/>
              <a:gdLst/>
              <a:ahLst/>
              <a:cxnLst/>
              <a:rect r="r" b="b" t="t" l="l"/>
              <a:pathLst>
                <a:path h="1097906" w="1295824">
                  <a:moveTo>
                    <a:pt x="0" y="0"/>
                  </a:moveTo>
                  <a:lnTo>
                    <a:pt x="1092624" y="0"/>
                  </a:lnTo>
                  <a:lnTo>
                    <a:pt x="1295824" y="548953"/>
                  </a:lnTo>
                  <a:lnTo>
                    <a:pt x="1092624" y="1097906"/>
                  </a:lnTo>
                  <a:lnTo>
                    <a:pt x="0" y="1097906"/>
                  </a:lnTo>
                  <a:lnTo>
                    <a:pt x="203200" y="548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77800" y="-28575"/>
              <a:ext cx="1041824" cy="1126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1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359754" y="4632558"/>
            <a:ext cx="3212631" cy="1833746"/>
            <a:chOff x="0" y="0"/>
            <a:chExt cx="4283508" cy="2444995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628895"/>
              <a:ext cx="4283508" cy="181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sz="2000" spc="12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B</a:t>
              </a:r>
              <a:r>
                <a:rPr lang="en-US" sz="2000" spc="120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ackend API</a:t>
              </a:r>
            </a:p>
            <a:p>
              <a:pPr algn="ctr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sz="2000" spc="120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↓</a:t>
              </a:r>
            </a:p>
            <a:p>
              <a:pPr algn="ctr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sz="2000" spc="120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Dashboard / Mobile Application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-38100"/>
              <a:ext cx="4283508" cy="44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b="true" sz="2000" spc="12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</a:t>
              </a:r>
              <a:r>
                <a:rPr lang="en-US" b="true" sz="2000" spc="120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armer Application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3923026" y="2999332"/>
            <a:ext cx="137935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4"/>
              </a:lnSpc>
              <a:spcBef>
                <a:spcPct val="0"/>
              </a:spcBef>
            </a:pPr>
            <a:r>
              <a:rPr lang="en-US" b="true" sz="2499" spc="1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Phase 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454325" y="2999332"/>
            <a:ext cx="137935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4"/>
              </a:lnSpc>
              <a:spcBef>
                <a:spcPct val="0"/>
              </a:spcBef>
            </a:pPr>
            <a:r>
              <a:rPr lang="en-US" b="true" sz="2499" spc="1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Phase 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634799" y="2999332"/>
            <a:ext cx="137935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4"/>
              </a:lnSpc>
              <a:spcBef>
                <a:spcPct val="0"/>
              </a:spcBef>
            </a:pPr>
            <a:r>
              <a:rPr lang="en-US" b="true" sz="2499" spc="1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Phase 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8435840"/>
            <a:ext cx="162306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Farmer Image → Image Processing → </a:t>
            </a: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Crop Identification → Disease Model Selection → Disease Analysis → Severity &amp; Pest Analysis → Smart Recommendation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7886350"/>
            <a:ext cx="406947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4"/>
              </a:lnSpc>
              <a:spcBef>
                <a:spcPct val="0"/>
              </a:spcBef>
            </a:pPr>
            <a:r>
              <a:rPr lang="en-US" b="true" sz="2499" spc="1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Main Solution Flow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2999332"/>
            <a:ext cx="137935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4"/>
              </a:lnSpc>
              <a:spcBef>
                <a:spcPct val="0"/>
              </a:spcBef>
            </a:pPr>
            <a:r>
              <a:rPr lang="en-US" b="true" sz="2499" spc="1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Phase 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90980" y="-712357"/>
            <a:ext cx="22453902" cy="11711713"/>
            <a:chOff x="0" y="0"/>
            <a:chExt cx="5913785" cy="30845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2321654"/>
          <a:ext cx="8115300" cy="6438900"/>
        </p:xfrm>
        <a:graphic>
          <a:graphicData uri="http://schemas.openxmlformats.org/drawingml/2006/table">
            <a:tbl>
              <a:tblPr/>
              <a:tblGrid>
                <a:gridCol w="5892295"/>
                <a:gridCol w="2223005"/>
              </a:tblGrid>
              <a:tr h="8048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Component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7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Status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7D4"/>
                    </a:solidFill>
                  </a:tcPr>
                </a:tc>
              </a:tr>
              <a:tr h="8048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Image Quality Analysis &amp; Leaf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✅ Completed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8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Crop Identification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✅ Completed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8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Crop-Specific Disease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✅ Completed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8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Disease Model Routing &amp; Severity Estimation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✅ Completed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8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Pest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✅ Completed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8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Integrated AI Pipeline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✅ Completed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8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Recommendation Engine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🔄 Pending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E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354896" y="1095375"/>
            <a:ext cx="9578208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9"/>
              </a:lnSpc>
            </a:pPr>
            <a:r>
              <a:rPr lang="en-US" b="true" sz="5999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Progress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18613" y="3785647"/>
            <a:ext cx="7217872" cy="308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We have integrated these individual modules into a single working AI pipeline.</a:t>
            </a:r>
          </a:p>
          <a:p>
            <a:pPr algn="ctr">
              <a:lnSpc>
                <a:spcPts val="2700"/>
              </a:lnSpc>
            </a:pPr>
          </a:p>
          <a:p>
            <a:pPr algn="ctr">
              <a:lnSpc>
                <a:spcPts val="2700"/>
              </a:lnSpc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system currently processes a crop image and performs:</a:t>
            </a:r>
          </a:p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2000" spc="1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Preprocessing → </a:t>
            </a:r>
            <a:r>
              <a:rPr lang="en-US" sz="2000" spc="120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Crop Identification → Decision Routing → Disease Classification → Severity Estimation → Pest Classification</a:t>
            </a:r>
          </a:p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90980" y="-712357"/>
            <a:ext cx="22453902" cy="11711713"/>
            <a:chOff x="0" y="0"/>
            <a:chExt cx="5913785" cy="30845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02395" y="1937385"/>
            <a:ext cx="10283210" cy="7320915"/>
          </a:xfrm>
          <a:custGeom>
            <a:avLst/>
            <a:gdLst/>
            <a:ahLst/>
            <a:cxnLst/>
            <a:rect r="r" b="b" t="t" l="l"/>
            <a:pathLst>
              <a:path h="7320915" w="10283210">
                <a:moveTo>
                  <a:pt x="0" y="0"/>
                </a:moveTo>
                <a:lnTo>
                  <a:pt x="10283210" y="0"/>
                </a:lnTo>
                <a:lnTo>
                  <a:pt x="10283210" y="7320915"/>
                </a:lnTo>
                <a:lnTo>
                  <a:pt x="0" y="73209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00777" y="923207"/>
            <a:ext cx="2886446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820"/>
              </a:lnSpc>
              <a:spcBef>
                <a:spcPct val="0"/>
              </a:spcBef>
            </a:pPr>
            <a:r>
              <a:rPr lang="en-US" b="true" sz="60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Result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90980" y="-712357"/>
            <a:ext cx="22453902" cy="11711713"/>
            <a:chOff x="0" y="0"/>
            <a:chExt cx="5913785" cy="30845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700777" y="923207"/>
            <a:ext cx="2886446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820"/>
              </a:lnSpc>
              <a:spcBef>
                <a:spcPct val="0"/>
              </a:spcBef>
            </a:pPr>
            <a:r>
              <a:rPr lang="en-US" b="true" sz="60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Result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37933" y="1907801"/>
            <a:ext cx="9812134" cy="8039171"/>
          </a:xfrm>
          <a:custGeom>
            <a:avLst/>
            <a:gdLst/>
            <a:ahLst/>
            <a:cxnLst/>
            <a:rect r="r" b="b" t="t" l="l"/>
            <a:pathLst>
              <a:path h="8039171" w="9812134">
                <a:moveTo>
                  <a:pt x="0" y="0"/>
                </a:moveTo>
                <a:lnTo>
                  <a:pt x="9812134" y="0"/>
                </a:lnTo>
                <a:lnTo>
                  <a:pt x="9812134" y="8039171"/>
                </a:lnTo>
                <a:lnTo>
                  <a:pt x="0" y="80391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90980" y="-712357"/>
            <a:ext cx="22453902" cy="11711713"/>
            <a:chOff x="0" y="0"/>
            <a:chExt cx="5913785" cy="30845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27558" y="1398327"/>
            <a:ext cx="9232884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9"/>
              </a:lnSpc>
            </a:pPr>
            <a:r>
              <a:rPr lang="en-US" sz="5999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Next Development Plan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79421" y="3191316"/>
            <a:ext cx="13929159" cy="4986338"/>
            <a:chOff x="0" y="0"/>
            <a:chExt cx="18572212" cy="664845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38100"/>
              <a:ext cx="12310513" cy="5518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74"/>
                </a:lnSpc>
                <a:spcBef>
                  <a:spcPct val="0"/>
                </a:spcBef>
              </a:pPr>
              <a:r>
                <a:rPr lang="en-US" sz="2499" spc="149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🔄 Smart Recommendation Engine</a:t>
              </a:r>
            </a:p>
            <a:p>
              <a:pPr algn="l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Convert the AI analysis into actionable recommendations for farmers.</a:t>
              </a:r>
            </a:p>
            <a:p>
              <a:pPr algn="l" marL="0" indent="0" lvl="0">
                <a:lnSpc>
                  <a:spcPts val="3374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374"/>
                </a:lnSpc>
                <a:spcBef>
                  <a:spcPct val="0"/>
                </a:spcBef>
              </a:pPr>
              <a:r>
                <a:rPr lang="en-US" sz="2499" spc="149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🌤 Context Integration</a:t>
              </a:r>
            </a:p>
            <a:p>
              <a:pPr algn="l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n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g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e:</a:t>
              </a:r>
            </a:p>
            <a:p>
              <a:pPr algn="l" marL="431801" indent="-215900" lvl="1">
                <a:lnSpc>
                  <a:spcPts val="27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Wea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at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</a:t>
              </a:r>
            </a:p>
            <a:p>
              <a:pPr algn="l" marL="431801" indent="-215900" lvl="1">
                <a:lnSpc>
                  <a:spcPts val="27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oc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tion cont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ext</a:t>
              </a:r>
            </a:p>
            <a:p>
              <a:pPr algn="l" marL="431801" indent="-215900" lvl="1">
                <a:lnSpc>
                  <a:spcPts val="27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Cr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p-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pecific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in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for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tion</a:t>
              </a:r>
            </a:p>
            <a:p>
              <a:pPr algn="l">
                <a:lnSpc>
                  <a:spcPts val="3374"/>
                </a:lnSpc>
                <a:spcBef>
                  <a:spcPct val="0"/>
                </a:spcBef>
              </a:pPr>
            </a:p>
            <a:p>
              <a:pPr algn="l">
                <a:lnSpc>
                  <a:spcPts val="3374"/>
                </a:lnSpc>
                <a:spcBef>
                  <a:spcPct val="0"/>
                </a:spcBef>
              </a:pPr>
              <a:r>
                <a:rPr lang="en-US" sz="2499" spc="149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🔌 Backend API Development</a:t>
              </a:r>
            </a:p>
            <a:p>
              <a:pPr algn="l">
                <a:lnSpc>
                  <a:spcPts val="2700"/>
                </a:lnSpc>
                <a:spcBef>
                  <a:spcPct val="0"/>
                </a:spcBef>
              </a:pP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Expose the complete pipeline through application APIs.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2897783" y="-38100"/>
              <a:ext cx="5674429" cy="6686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74"/>
                </a:lnSpc>
                <a:spcBef>
                  <a:spcPct val="0"/>
                </a:spcBef>
              </a:pPr>
              <a:r>
                <a:rPr lang="en-US" sz="2499" spc="14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📱</a:t>
              </a:r>
              <a:r>
                <a:rPr lang="en-US" sz="2499" spc="149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499" spc="149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</a:t>
              </a:r>
              <a:r>
                <a:rPr lang="en-US" sz="2499" spc="149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arme</a:t>
              </a:r>
              <a:r>
                <a:rPr lang="en-US" sz="2499" spc="149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 Dashboar</a:t>
              </a:r>
              <a:r>
                <a:rPr lang="en-US" sz="2499" spc="149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</a:t>
              </a:r>
            </a:p>
            <a:p>
              <a:pPr algn="l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Develop 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s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mple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in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er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fac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 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for:</a:t>
              </a:r>
            </a:p>
            <a:p>
              <a:pPr algn="l" marL="431801" indent="-215900" lvl="1">
                <a:lnSpc>
                  <a:spcPts val="27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mage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uplo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</a:t>
              </a:r>
            </a:p>
            <a:p>
              <a:pPr algn="l" marL="431801" indent="-215900" lvl="1">
                <a:lnSpc>
                  <a:spcPts val="27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nalysis 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resul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</a:t>
              </a:r>
            </a:p>
            <a:p>
              <a:pPr algn="l" marL="431801" indent="-215900" lvl="1">
                <a:lnSpc>
                  <a:spcPts val="27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Cr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p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he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al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re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ports</a:t>
              </a:r>
            </a:p>
            <a:p>
              <a:pPr algn="l" marL="431801" indent="-215900" lvl="1">
                <a:lnSpc>
                  <a:spcPts val="27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Re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commendations</a:t>
              </a:r>
            </a:p>
            <a:p>
              <a:pPr algn="l" marL="0" indent="0" lvl="0">
                <a:lnSpc>
                  <a:spcPts val="3374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374"/>
                </a:lnSpc>
                <a:spcBef>
                  <a:spcPct val="0"/>
                </a:spcBef>
              </a:pPr>
              <a:r>
                <a:rPr lang="en-US" sz="2499" spc="149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🌱 Future Expansion</a:t>
              </a:r>
            </a:p>
            <a:p>
              <a:pPr algn="l" marL="431801" indent="-215900" lvl="1">
                <a:lnSpc>
                  <a:spcPts val="27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oil condition analysis</a:t>
              </a:r>
            </a:p>
            <a:p>
              <a:pPr algn="l" marL="431801" indent="-215900" lvl="1">
                <a:lnSpc>
                  <a:spcPts val="27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oT se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nsor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in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teg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ration</a:t>
              </a:r>
            </a:p>
            <a:p>
              <a:pPr algn="l" marL="431801" indent="-215900" lvl="1">
                <a:lnSpc>
                  <a:spcPts val="27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one 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&amp; sa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te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te i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mag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ry</a:t>
              </a:r>
            </a:p>
            <a:p>
              <a:pPr algn="l" marL="431801" indent="-215900" lvl="1">
                <a:lnSpc>
                  <a:spcPts val="27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Reg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n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al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lang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g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su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pp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ort</a:t>
              </a:r>
            </a:p>
            <a:p>
              <a:pPr algn="l" marL="431801" indent="-215900" lvl="1">
                <a:lnSpc>
                  <a:spcPts val="27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AI f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rm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in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g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assi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</a:t>
              </a:r>
              <a:r>
                <a:rPr lang="en-US" sz="2000" spc="120" strike="noStrike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tant</a:t>
              </a:r>
            </a:p>
            <a:p>
              <a:pPr algn="l">
                <a:lnSpc>
                  <a:spcPts val="27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AAD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2017" y="4495328"/>
            <a:ext cx="11923966" cy="156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b="true" sz="12023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DAHS7lQUxAk</dc:identifier>
  <dcterms:modified xsi:type="dcterms:W3CDTF">2011-08-01T06:04:30Z</dcterms:modified>
  <cp:revision>1</cp:revision>
  <dc:title>Blue Minimalist Project Presentation</dc:title>
</cp:coreProperties>
</file>