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Bitter"/>
      <p:regular r:id="rId201314"/>
    </p:embeddedFont>
    <p:embeddedFont>
      <p:font typeface="Bitter Medium"/>
      <p:regular r:id="rId201315"/>
    </p:embeddedFont>
    <p:embeddedFont>
      <p:font typeface="Bitter Bold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  <p:embeddedFont>
      <p:font typeface="Open Sans Medium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9.png"/><Relationship Id="rId14" Type="http://schemas.openxmlformats.org/officeDocument/2006/relationships/image" Target="../media/image-4-10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9.png"/><Relationship Id="rId18" Type="http://schemas.openxmlformats.org/officeDocument/2006/relationships/image" Target="../media/image-4-10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9.png"/><Relationship Id="rId22" Type="http://schemas.openxmlformats.org/officeDocument/2006/relationships/image" Target="../media/image-4-10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.png"/><Relationship Id="rId14" Type="http://schemas.openxmlformats.org/officeDocument/2006/relationships/image" Target="../media/image-9-2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.png"/><Relationship Id="rId18" Type="http://schemas.openxmlformats.org/officeDocument/2006/relationships/image" Target="../media/image-9-2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1.png"/><Relationship Id="rId22" Type="http://schemas.openxmlformats.org/officeDocument/2006/relationships/image" Target="../media/image-9-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image" Target="../media/image-9-1.png"/><Relationship Id="rId26" Type="http://schemas.openxmlformats.org/officeDocument/2006/relationships/image" Target="../media/image-9-2.svg"/><Relationship Id="rId27" Type="http://schemas.openxmlformats.org/officeDocument/2006/relationships/image" Target="../media/image-9-27.png"/><Relationship Id="rId28" Type="http://schemas.openxmlformats.org/officeDocument/2006/relationships/image" Target="../media/image-9-28.svg"/><Relationship Id="rId29" Type="http://schemas.openxmlformats.org/officeDocument/2006/relationships/image" Target="../media/image-9-1.png"/><Relationship Id="rId30" Type="http://schemas.openxmlformats.org/officeDocument/2006/relationships/image" Target="../media/image-9-2.svg"/><Relationship Id="rId31" Type="http://schemas.openxmlformats.org/officeDocument/2006/relationships/image" Target="../media/image-9-31.png"/><Relationship Id="rId32" Type="http://schemas.openxmlformats.org/officeDocument/2006/relationships/image" Target="../media/image-9-32.svg"/><Relationship Id="rId33" Type="http://schemas.openxmlformats.org/officeDocument/2006/relationships/image" Target="../media/image-9-1.png"/><Relationship Id="rId34" Type="http://schemas.openxmlformats.org/officeDocument/2006/relationships/image" Target="../media/image-9-2.svg"/><Relationship Id="rId35" Type="http://schemas.openxmlformats.org/officeDocument/2006/relationships/image" Target="../media/image-9-35.png"/><Relationship Id="rId36" Type="http://schemas.openxmlformats.org/officeDocument/2006/relationships/image" Target="../media/image-9-36.svg"/><Relationship Id="rId37" Type="http://schemas.openxmlformats.org/officeDocument/2006/relationships/slideLayout" Target="../slideLayouts/slideLayout2.xml"/><Relationship Id="rId3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13620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spc="-98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AI-Powered Monitoring of Crop Health, Soil Condition &amp; Pest Risks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6682" y="317777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Computer Vision, AI &amp; Smart Data Analytics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3628430"/>
            <a:ext cx="5470785" cy="1415951"/>
          </a:xfrm>
          <a:prstGeom prst="roundRect">
            <a:avLst>
              <a:gd name="adj" fmla="val 8410"/>
            </a:avLst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3793728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Smart India Hackathon 2025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4217491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Problem Statement ID:</a:t>
            </a:r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SIH25099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379372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4217491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Manthan Kuvadiya | Kunj Lunagariya | Madhav Ajwalia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Department:</a:t>
            </a:r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CSPIT-IT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58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78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60661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Agriculture is the backbone of India's economy, but farmers still face several critical challenges that limit productivity and sustainability across the sector.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575991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Core Challenges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01726"/>
            <a:ext cx="5273047" cy="9960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8978" y="2053034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Late Disease Detection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8978" y="2365474"/>
            <a:ext cx="489423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Crop diseases are identified only after visible damage has already occurred, making intervention too late.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003550"/>
            <a:ext cx="5273047" cy="9960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8978" y="3154859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Unexpected Pest Attacks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88978" y="3467298"/>
            <a:ext cx="489423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Farmers lack predictive tools to anticipate and prevent pest infestations before they spread.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5374"/>
            <a:ext cx="5273047" cy="9960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8978" y="4256683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Poor Soil Understanding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88978" y="4569123"/>
            <a:ext cx="489423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Inadequate knowledge of soil conditions leads to improper fertilizer application and nutrient imbalances.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207198"/>
            <a:ext cx="5273047" cy="99605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8978" y="5358507"/>
            <a:ext cx="48942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Excessive Inputs &amp; Low Yield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88978" y="5670947"/>
            <a:ext cx="489423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Overuse of fertilizers and pesticides raises costs and degrades soil, while crop productivity remains low.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6263523" y="1575991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263523" y="1888430"/>
            <a:ext cx="52730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monitoring methods are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manual, time-consuming, costly, and inaccurate</a:t>
            </a:r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large farms. There is an urgent need for an intelligent, automated solution.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6263523" y="2388493"/>
            <a:ext cx="5273047" cy="828080"/>
          </a:xfrm>
          <a:prstGeom prst="roundRect">
            <a:avLst>
              <a:gd name="adj" fmla="val 6711"/>
            </a:avLst>
          </a:prstGeom>
          <a:solidFill>
            <a:srgbClr val="FCE2C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5778" y="2557562"/>
            <a:ext cx="165294" cy="13225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93328" y="2516783"/>
            <a:ext cx="471098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an AI-powered system that continuously monitors crop health, predicts pest risks, analyzes soil conditions, and provides timely recommendations to farmers.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0148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spc="-68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Existing System &amp; Challenges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434405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Current Approach — A Reactive Cycle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706364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-27" kern="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61475" y="1890316"/>
            <a:ext cx="5293188" cy="1270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973560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3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Manual Inspection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1475" y="2235398"/>
            <a:ext cx="529318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Farmer physically walks fields to inspect crops — slow and impractical at scale.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1475" y="2560638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-27" kern="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1475" y="2744589"/>
            <a:ext cx="5293188" cy="1270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2827834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3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Post-Damage Identification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1475" y="3089672"/>
            <a:ext cx="529318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Disease is identified only after visible damage has already appeared on the crop.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1475" y="3414911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-27" kern="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1475" y="3598863"/>
            <a:ext cx="5293188" cy="1270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3682107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3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Expert Consultation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475" y="3943945"/>
            <a:ext cx="529318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Farmer consults an agriculture expert — often unavailable, delayed, or costly.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1475" y="4269184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-27" kern="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1475" y="4453136"/>
            <a:ext cx="5293188" cy="1270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536380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3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Apply Inputs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1475" y="4798219"/>
            <a:ext cx="529318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Fertilizers and pesticides are applied broadly, often excessively and inaccurately.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1475" y="5123458"/>
            <a:ext cx="2314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-27" kern="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1475" y="5307409"/>
            <a:ext cx="5293188" cy="1270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5390654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3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Crop Loss Already Occurred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1475" y="5652492"/>
            <a:ext cx="529318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the time action is taken, significant yield loss has already been sustained.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43382" y="1434405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Challenges with This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43382" y="1706364"/>
            <a:ext cx="2606114" cy="663377"/>
          </a:xfrm>
          <a:prstGeom prst="roundRect">
            <a:avLst>
              <a:gd name="adj" fmla="val 733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5418" y="1828403"/>
            <a:ext cx="236204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3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Too Late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65418" y="2090241"/>
            <a:ext cx="236204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Disease detected only after crop damage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30456" y="1706364"/>
            <a:ext cx="2606114" cy="663377"/>
          </a:xfrm>
          <a:prstGeom prst="roundRect">
            <a:avLst>
              <a:gd name="adj" fmla="val 733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492" y="1828403"/>
            <a:ext cx="236204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3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Human Error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52492" y="2090241"/>
            <a:ext cx="236204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Inaccurate identification by untrained eyes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43382" y="2450703"/>
            <a:ext cx="2606114" cy="663377"/>
          </a:xfrm>
          <a:prstGeom prst="roundRect">
            <a:avLst>
              <a:gd name="adj" fmla="val 733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5418" y="2572742"/>
            <a:ext cx="236204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3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 Experts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65418" y="2834580"/>
            <a:ext cx="236204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Lack of accessible agricultural expertise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930456" y="2450703"/>
            <a:ext cx="2606114" cy="663377"/>
          </a:xfrm>
          <a:prstGeom prst="roundRect">
            <a:avLst>
              <a:gd name="adj" fmla="val 733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492" y="2572742"/>
            <a:ext cx="236204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3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High Cost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52492" y="2834580"/>
            <a:ext cx="236204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Expensive manual monitoring at farm scale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43382" y="3195042"/>
            <a:ext cx="5293188" cy="663377"/>
          </a:xfrm>
          <a:prstGeom prst="roundRect">
            <a:avLst>
              <a:gd name="adj" fmla="val 733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5418" y="3317081"/>
            <a:ext cx="5049116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-34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Waste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65418" y="3578920"/>
            <a:ext cx="504911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-18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Water wastage &amp; excessive pesticide usage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658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78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Proposed AI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541661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system acts as an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D2600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AI-based Smart Farming Assistant</a:t>
            </a:r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from data ingestion to actionable farmer recommendations.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956991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Input Sources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82726"/>
            <a:ext cx="330688" cy="3306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418" y="2282726"/>
            <a:ext cx="4810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Crop Images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4418" y="2595166"/>
            <a:ext cx="481010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Farmer-uploaded field photos for real-time visual analysis.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97299"/>
            <a:ext cx="330688" cy="3306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24418" y="2997299"/>
            <a:ext cx="4810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Satellite Images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24418" y="3309739"/>
            <a:ext cx="481010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Large-area remote sensing for regional crop health mapping.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11873"/>
            <a:ext cx="330688" cy="3306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4418" y="3711873"/>
            <a:ext cx="4810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Weather Data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124418" y="4024313"/>
            <a:ext cx="481010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meteorological feeds for pest risk correlation.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26446"/>
            <a:ext cx="330688" cy="3306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24418" y="4426446"/>
            <a:ext cx="4810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IoT Sensor Data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124418" y="4738886"/>
            <a:ext cx="481010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Optional soil moisture and temperature sensor integration.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6263523" y="1956991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 Pipeline Output &amp; Key Features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63523" y="2282726"/>
            <a:ext cx="5273047" cy="805557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44791" y="2586236"/>
            <a:ext cx="198433" cy="19843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17557" y="2434034"/>
            <a:ext cx="446770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Disease Detection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917557" y="2746474"/>
            <a:ext cx="44677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Early identification of crop diseases before visible damage.</a:t>
            </a:r>
            <a:endParaRPr lang="en-US" sz="10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63523" y="3194050"/>
            <a:ext cx="5273047" cy="805557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44791" y="3497560"/>
            <a:ext cx="198433" cy="19843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917557" y="3345359"/>
            <a:ext cx="446770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Soil Health Analysis</a:t>
            </a:r>
            <a:endParaRPr lang="en-US" sz="1300" dirty="0"/>
          </a:p>
        </p:txBody>
      </p:sp>
      <p:sp>
        <p:nvSpPr>
          <p:cNvPr id="25" name="Text 15"/>
          <p:cNvSpPr/>
          <p:nvPr/>
        </p:nvSpPr>
        <p:spPr>
          <a:xfrm>
            <a:off x="6917557" y="3657798"/>
            <a:ext cx="44677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Nutrient and condition profiling for precision fertilization.</a:t>
            </a:r>
            <a:endParaRPr lang="en-US" sz="10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63523" y="4105374"/>
            <a:ext cx="5273047" cy="805557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44791" y="4408884"/>
            <a:ext cx="198433" cy="19843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917557" y="4256683"/>
            <a:ext cx="446770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Pest Risk Prediction</a:t>
            </a:r>
            <a:endParaRPr lang="en-US" sz="1300" dirty="0"/>
          </a:p>
        </p:txBody>
      </p:sp>
      <p:sp>
        <p:nvSpPr>
          <p:cNvPr id="29" name="Text 17"/>
          <p:cNvSpPr/>
          <p:nvPr/>
        </p:nvSpPr>
        <p:spPr>
          <a:xfrm>
            <a:off x="6917557" y="4569123"/>
            <a:ext cx="44677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Weather-correlated forecasting of pest infestation likelihood.</a:t>
            </a:r>
            <a:endParaRPr lang="en-US" sz="10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63523" y="5016698"/>
            <a:ext cx="5273047" cy="805557"/>
          </a:xfrm>
          <a:prstGeom prst="rect">
            <a:avLst/>
          </a:prstGeom>
        </p:spPr>
      </p:pic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44791" y="5320209"/>
            <a:ext cx="198433" cy="19843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6917557" y="5168007"/>
            <a:ext cx="446770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Farmer Dashboard / Mobile App</a:t>
            </a:r>
            <a:endParaRPr lang="en-US" sz="1300" dirty="0"/>
          </a:p>
        </p:txBody>
      </p:sp>
      <p:sp>
        <p:nvSpPr>
          <p:cNvPr id="33" name="Text 19"/>
          <p:cNvSpPr/>
          <p:nvPr/>
        </p:nvSpPr>
        <p:spPr>
          <a:xfrm>
            <a:off x="6917557" y="5480447"/>
            <a:ext cx="44677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Recommendation Engine delivers crop health reports &amp; smart alerts.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3352"/>
            <a:ext cx="10868745" cy="301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5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System Architecture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878185"/>
            <a:ext cx="11478330" cy="122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spc="-1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vertical AI pipeline from farmer input to actionable output — with parallel inference branches for comprehensive crop intelligence.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453" y="1064121"/>
            <a:ext cx="9090691" cy="51444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37388" y="1709502"/>
            <a:ext cx="2078637" cy="259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Upload Image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37388" y="2043247"/>
            <a:ext cx="3187243" cy="329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Farmer submits crop photo via dashboard or mobile app.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875427" y="2724450"/>
            <a:ext cx="2078636" cy="259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Image Processing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66821" y="3058195"/>
            <a:ext cx="3187243" cy="329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3000"/>
              </a:lnSpc>
              <a:buNone/>
            </a:pPr>
            <a:r>
              <a:rPr lang="en-US" sz="13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OpenCV preprocessing pipeline for enhancement.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37388" y="3741997"/>
            <a:ext cx="2078637" cy="259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 Inference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37388" y="4075742"/>
            <a:ext cx="3187243" cy="329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 / Vision Transformer performs analysis.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876871" y="4758245"/>
            <a:ext cx="2078636" cy="259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 Recommendations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768264" y="5091990"/>
            <a:ext cx="3187242" cy="16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83000"/>
              </a:lnSpc>
              <a:buNone/>
            </a:pPr>
            <a:r>
              <a:rPr lang="en-US" sz="13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Aggregate outputs into actionable plans.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1475" y="6272113"/>
            <a:ext cx="11478330" cy="122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b="1" spc="-15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Future Integration:</a:t>
            </a:r>
            <a:pPr algn="l" indent="0" marL="0">
              <a:lnSpc>
                <a:spcPct val="106000"/>
              </a:lnSpc>
              <a:buNone/>
            </a:pPr>
            <a:r>
              <a:rPr lang="en-US" sz="750" spc="-1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Drone imagery, IoT sensors, and satellite data feeds will be incorporated as additional input channels into the preprocessing stage, expanding the system's monitoring coverage without altering the core inference pipeline.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29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spc="-98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Technology Stack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9039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modern, production-ready stack spanning frontend, backend, AI/ML inference, external APIs, and cloud deployment.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27077"/>
            <a:ext cx="5232666" cy="10570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2511425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2017" y="2935188"/>
            <a:ext cx="4787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React.js, HTML, CSS, Chart.js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49452"/>
            <a:ext cx="5232666" cy="10570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2017" y="3733800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Backend &amp; Database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22017" y="4157563"/>
            <a:ext cx="4787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FastAPI (Python) | MongoDB Atlas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771827"/>
            <a:ext cx="5232666" cy="10570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2017" y="4956175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22017" y="5379938"/>
            <a:ext cx="4787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Docker | Render / Railway | Hugging Face Spaces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303904" y="2327077"/>
            <a:ext cx="2533686" cy="1974354"/>
          </a:xfrm>
          <a:prstGeom prst="roundRect">
            <a:avLst>
              <a:gd name="adj" fmla="val 3518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75548" y="2498725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 / ML Core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75548" y="2922488"/>
            <a:ext cx="2190398" cy="1207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PyTorch, TensorFlow, OpenCV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YOLOv11, Vision Transformer (ViT), Scikit-Learn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002884" y="2327077"/>
            <a:ext cx="2533686" cy="1974354"/>
          </a:xfrm>
          <a:prstGeom prst="roundRect">
            <a:avLst>
              <a:gd name="adj" fmla="val 3518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174528" y="2498725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 Assistant &amp; APIs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74528" y="2922488"/>
            <a:ext cx="2190398" cy="109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LangChain + Llama 3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Gemini API (Optional)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OpenWeather API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9255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3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Proposed Methodology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547416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structured, end-to-end AI pipeline — from raw data collection through model training to real-time farmer-facing output.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89820"/>
            <a:ext cx="5434373" cy="5622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1965" y="2571552"/>
            <a:ext cx="515339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1. Collect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01965" y="2862759"/>
            <a:ext cx="515339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Crop images from farmers, drones, or satellites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889820"/>
            <a:ext cx="5434373" cy="5622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36338" y="2571552"/>
            <a:ext cx="515339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2. Preprocess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236338" y="2862759"/>
            <a:ext cx="515339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Resize, normalize, data augmentation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211314"/>
            <a:ext cx="5434373" cy="5622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1965" y="3893046"/>
            <a:ext cx="515339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3. Train AI Model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01965" y="4184253"/>
            <a:ext cx="515339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 / ViT on labeled crop disease datasets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211314"/>
            <a:ext cx="5434373" cy="5622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36338" y="3893046"/>
            <a:ext cx="515339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4. Detect Disease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236338" y="4184253"/>
            <a:ext cx="515339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Classify crop health from processed images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667151"/>
            <a:ext cx="3622882" cy="56227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1965" y="5348883"/>
            <a:ext cx="334190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5. Predict Pest Risk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801965" y="5640090"/>
            <a:ext cx="334190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Correlate with weather and historical data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4357" y="4667151"/>
            <a:ext cx="3622882" cy="56227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424847" y="5348883"/>
            <a:ext cx="334190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6. Generate Recommendations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424847" y="5640090"/>
            <a:ext cx="334190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Fertilizer, irrigation, and treatment plans</a:t>
            </a:r>
            <a:endParaRPr lang="en-US" sz="11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7239" y="4667151"/>
            <a:ext cx="3622882" cy="56227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047729" y="5348883"/>
            <a:ext cx="334190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7. Display Dashboard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8047729" y="5640090"/>
            <a:ext cx="334190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alerts and reports for farmers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334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78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Expected Outcomes &amp; Benefits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227" y="1645543"/>
            <a:ext cx="5463542" cy="4139009"/>
          </a:xfrm>
          <a:prstGeom prst="roundRect">
            <a:avLst>
              <a:gd name="adj" fmla="val 2302"/>
            </a:avLst>
          </a:prstGeom>
          <a:solidFill>
            <a:srgbClr val="D2600F"/>
          </a:solidFill>
          <a:ln/>
        </p:spPr>
      </p:sp>
      <p:sp>
        <p:nvSpPr>
          <p:cNvPr id="4" name="Text 2"/>
          <p:cNvSpPr/>
          <p:nvPr/>
        </p:nvSpPr>
        <p:spPr>
          <a:xfrm>
            <a:off x="698483" y="1751310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Expected Results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8483" y="2077045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896" y="2122488"/>
            <a:ext cx="479561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Early Disease Detection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01896" y="2434927"/>
            <a:ext cx="47956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 visible crop damage — enabling timely, targeted intervention.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8483" y="2837061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1896" y="2882503"/>
            <a:ext cx="479561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Reduced Crop Losses &amp; Increased Yield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01896" y="3194943"/>
            <a:ext cx="47956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 monitoring translates directly to higher farm productivity.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8483" y="3597077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1896" y="3642519"/>
            <a:ext cx="479561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Better Fertilizer &amp; Water Utilization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01896" y="3954959"/>
            <a:ext cx="47956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Precision recommendations reduce waste and conserve resources.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8483" y="4357092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1896" y="4402534"/>
            <a:ext cx="479561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Reduced Pesticide Usage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01896" y="4714974"/>
            <a:ext cx="47956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Precision targeting eliminates broad-spectrum chemical application.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8483" y="5117108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1896" y="5162550"/>
            <a:ext cx="479561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Data-Driven Farming Decisions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1896" y="5474990"/>
            <a:ext cx="47956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AI-assisted insights replace guesswork with evidence-based action.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523" y="175131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Who Benefits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523" y="2077045"/>
            <a:ext cx="2583592" cy="1167507"/>
          </a:xfrm>
          <a:prstGeom prst="roundRect">
            <a:avLst>
              <a:gd name="adj" fmla="val 476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2128" y="2215654"/>
            <a:ext cx="2306381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🌾</a:t>
            </a:r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Farmers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2128" y="2534444"/>
            <a:ext cx="23063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Better decisions, lower costs, and improved livelihoods through precision agriculture.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52879" y="2077045"/>
            <a:ext cx="2583691" cy="1167507"/>
          </a:xfrm>
          <a:prstGeom prst="roundRect">
            <a:avLst>
              <a:gd name="adj" fmla="val 476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1484" y="2215654"/>
            <a:ext cx="2306481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🏛</a:t>
            </a:r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Government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91484" y="2534444"/>
            <a:ext cx="23064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Improved agricultural planning, policy formulation, and subsidy targeting.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523" y="3350320"/>
            <a:ext cx="2583592" cy="1167507"/>
          </a:xfrm>
          <a:prstGeom prst="roundRect">
            <a:avLst>
              <a:gd name="adj" fmla="val 476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2128" y="3488928"/>
            <a:ext cx="2306381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🔬</a:t>
            </a:r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Researchers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2128" y="3807718"/>
            <a:ext cx="23063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Rich, structured crop analytics datasets for academic and applied research.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952879" y="3350320"/>
            <a:ext cx="2583691" cy="1167507"/>
          </a:xfrm>
          <a:prstGeom prst="roundRect">
            <a:avLst>
              <a:gd name="adj" fmla="val 476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1484" y="3488928"/>
            <a:ext cx="2306481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Society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91484" y="3807718"/>
            <a:ext cx="23064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Increased food production, food security, and sustainable farming practices.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5619"/>
            <a:ext cx="10868745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5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Scope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661475" y="888504"/>
            <a:ext cx="11478330" cy="11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00" spc="-14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platform is architected for extensibility — each of the following capabilities represents a planned enhancement to the core system.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056779"/>
            <a:ext cx="10868745" cy="54421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305" y="1260773"/>
            <a:ext cx="136026" cy="1360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6617" y="1160165"/>
            <a:ext cx="10340220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🌾</a:t>
            </a:r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Drone Integration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1086617" y="1331615"/>
            <a:ext cx="10340220" cy="11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00" spc="-14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Aerial crop surveillance at scale for large farm coverage.</a:t>
            </a:r>
            <a:endParaRPr lang="en-US" sz="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650702"/>
            <a:ext cx="10868745" cy="544215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305" y="1854696"/>
            <a:ext cx="136026" cy="13602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86617" y="1754088"/>
            <a:ext cx="10340220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🛰</a:t>
            </a:r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Satellite Image Analysis</a:t>
            </a:r>
            <a:endParaRPr lang="en-US" sz="850" dirty="0"/>
          </a:p>
        </p:txBody>
      </p:sp>
      <p:sp>
        <p:nvSpPr>
          <p:cNvPr id="11" name="Text 5"/>
          <p:cNvSpPr/>
          <p:nvPr/>
        </p:nvSpPr>
        <p:spPr>
          <a:xfrm>
            <a:off x="1086617" y="1925538"/>
            <a:ext cx="10340220" cy="11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00" spc="-14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Large-area monitoring across entire agricultural regions.</a:t>
            </a:r>
            <a:endParaRPr lang="en-US" sz="7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2244626"/>
            <a:ext cx="10868745" cy="544215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4305" y="2448620"/>
            <a:ext cx="136026" cy="13602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86617" y="2348012"/>
            <a:ext cx="10340220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🌡</a:t>
            </a:r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IoT Sensors</a:t>
            </a:r>
            <a:endParaRPr lang="en-US" sz="850" dirty="0"/>
          </a:p>
        </p:txBody>
      </p:sp>
      <p:sp>
        <p:nvSpPr>
          <p:cNvPr id="15" name="Text 7"/>
          <p:cNvSpPr/>
          <p:nvPr/>
        </p:nvSpPr>
        <p:spPr>
          <a:xfrm>
            <a:off x="1086617" y="2519462"/>
            <a:ext cx="10340220" cy="11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00" spc="-14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soil moisture &amp; temperature data integration.</a:t>
            </a:r>
            <a:endParaRPr lang="en-US" sz="7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2838549"/>
            <a:ext cx="10868745" cy="544215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4305" y="3042543"/>
            <a:ext cx="136026" cy="136029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086617" y="2941935"/>
            <a:ext cx="10340220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📱</a:t>
            </a:r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Android Application</a:t>
            </a:r>
            <a:endParaRPr lang="en-US" sz="850" dirty="0"/>
          </a:p>
        </p:txBody>
      </p:sp>
      <p:sp>
        <p:nvSpPr>
          <p:cNvPr id="19" name="Text 9"/>
          <p:cNvSpPr/>
          <p:nvPr/>
        </p:nvSpPr>
        <p:spPr>
          <a:xfrm>
            <a:off x="1086617" y="3113385"/>
            <a:ext cx="10340220" cy="11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00" spc="-14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Offline-capable mobile access for rural connectivity.</a:t>
            </a:r>
            <a:endParaRPr lang="en-US" sz="7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1475" y="3432473"/>
            <a:ext cx="10868745" cy="544215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4305" y="3636466"/>
            <a:ext cx="136026" cy="136029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086617" y="3535859"/>
            <a:ext cx="10340220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Regional Language Support</a:t>
            </a:r>
            <a:endParaRPr lang="en-US" sz="850" dirty="0"/>
          </a:p>
        </p:txBody>
      </p:sp>
      <p:sp>
        <p:nvSpPr>
          <p:cNvPr id="23" name="Text 11"/>
          <p:cNvSpPr/>
          <p:nvPr/>
        </p:nvSpPr>
        <p:spPr>
          <a:xfrm>
            <a:off x="1086617" y="3707309"/>
            <a:ext cx="10340220" cy="11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00" spc="-14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Accessibility for all farmers across India's linguistic diversity.</a:t>
            </a:r>
            <a:endParaRPr lang="en-US" sz="7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1475" y="4026396"/>
            <a:ext cx="10868745" cy="544215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84305" y="4230390"/>
            <a:ext cx="136026" cy="136029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1086617" y="4129782"/>
            <a:ext cx="10340220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AI Voice Assistant</a:t>
            </a:r>
            <a:endParaRPr lang="en-US" sz="850" dirty="0"/>
          </a:p>
        </p:txBody>
      </p:sp>
      <p:sp>
        <p:nvSpPr>
          <p:cNvPr id="27" name="Text 13"/>
          <p:cNvSpPr/>
          <p:nvPr/>
        </p:nvSpPr>
        <p:spPr>
          <a:xfrm>
            <a:off x="1086617" y="4301232"/>
            <a:ext cx="10340220" cy="11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00" spc="-14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Voice-guided farming advice for low-literacy users.</a:t>
            </a:r>
            <a:endParaRPr lang="en-US" sz="700" dirty="0"/>
          </a:p>
        </p:txBody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1475" y="4620320"/>
            <a:ext cx="10868745" cy="544215"/>
          </a:xfrm>
          <a:prstGeom prst="rect">
            <a:avLst/>
          </a:prstGeom>
        </p:spPr>
      </p:pic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84305" y="4824313"/>
            <a:ext cx="136026" cy="136029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1086617" y="4723705"/>
            <a:ext cx="10340220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☁</a:t>
            </a:r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Cloud-based Monitoring</a:t>
            </a:r>
            <a:endParaRPr lang="en-US" sz="850" dirty="0"/>
          </a:p>
        </p:txBody>
      </p:sp>
      <p:sp>
        <p:nvSpPr>
          <p:cNvPr id="31" name="Text 15"/>
          <p:cNvSpPr/>
          <p:nvPr/>
        </p:nvSpPr>
        <p:spPr>
          <a:xfrm>
            <a:off x="1086617" y="4895155"/>
            <a:ext cx="10340220" cy="11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00" spc="-14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Scalable multi-farm management infrastructure.</a:t>
            </a:r>
            <a:endParaRPr lang="en-US" sz="700" dirty="0"/>
          </a:p>
        </p:txBody>
      </p:sp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61475" y="5214243"/>
            <a:ext cx="10868745" cy="544215"/>
          </a:xfrm>
          <a:prstGeom prst="rect">
            <a:avLst/>
          </a:prstGeom>
        </p:spPr>
      </p:pic>
      <p:pic>
        <p:nvPicPr>
          <p:cNvPr id="3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84305" y="5418237"/>
            <a:ext cx="136026" cy="136029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1086617" y="5317629"/>
            <a:ext cx="10340220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Predictive Yield Analysis</a:t>
            </a:r>
            <a:endParaRPr lang="en-US" sz="850" dirty="0"/>
          </a:p>
        </p:txBody>
      </p:sp>
      <p:sp>
        <p:nvSpPr>
          <p:cNvPr id="35" name="Text 17"/>
          <p:cNvSpPr/>
          <p:nvPr/>
        </p:nvSpPr>
        <p:spPr>
          <a:xfrm>
            <a:off x="1086617" y="5489079"/>
            <a:ext cx="10340220" cy="11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00" spc="-14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Season-ahead forecasting for proactive farm planning.</a:t>
            </a:r>
            <a:endParaRPr lang="en-US" sz="700" dirty="0"/>
          </a:p>
        </p:txBody>
      </p:sp>
      <p:pic>
        <p:nvPicPr>
          <p:cNvPr id="36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61475" y="5808166"/>
            <a:ext cx="10868745" cy="544215"/>
          </a:xfrm>
          <a:prstGeom prst="rect">
            <a:avLst/>
          </a:prstGeom>
        </p:spPr>
      </p:pic>
      <p:pic>
        <p:nvPicPr>
          <p:cNvPr id="3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84305" y="6012160"/>
            <a:ext cx="136026" cy="136029"/>
          </a:xfrm>
          <a:prstGeom prst="rect">
            <a:avLst/>
          </a:prstGeom>
        </p:spPr>
      </p:pic>
      <p:sp>
        <p:nvSpPr>
          <p:cNvPr id="38" name="Text 18"/>
          <p:cNvSpPr/>
          <p:nvPr/>
        </p:nvSpPr>
        <p:spPr>
          <a:xfrm>
            <a:off x="1086617" y="5911552"/>
            <a:ext cx="10340220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850" spc="-2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LLM-based Farming Assistant</a:t>
            </a:r>
            <a:endParaRPr lang="en-US" sz="850" dirty="0"/>
          </a:p>
        </p:txBody>
      </p:sp>
      <p:sp>
        <p:nvSpPr>
          <p:cNvPr id="39" name="Text 19"/>
          <p:cNvSpPr/>
          <p:nvPr/>
        </p:nvSpPr>
        <p:spPr>
          <a:xfrm>
            <a:off x="1086617" y="6083002"/>
            <a:ext cx="10340220" cy="11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00" spc="-14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Conversational AI advisor for natural language farm queries.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981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78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Innovation: What Sets Us Apart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524893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Unlike traditional farming solutions, our project unifies multiple cutting-edge technologies into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spc="-21" kern="0" dirty="0">
                <a:solidFill>
                  <a:srgbClr val="D2600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one intelligent platform</a:t>
            </a:r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delivering end-to-end crop intelligence where others offer only point solutions.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1475" y="2024955"/>
            <a:ext cx="5381490" cy="1240532"/>
          </a:xfrm>
          <a:prstGeom prst="roundRect">
            <a:avLst>
              <a:gd name="adj" fmla="val 448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080" y="2163564"/>
            <a:ext cx="396865" cy="396875"/>
          </a:xfrm>
          <a:prstGeom prst="ellipse">
            <a:avLst/>
          </a:prstGeom>
          <a:solidFill>
            <a:srgbClr val="D2600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218" y="2272705"/>
            <a:ext cx="178589" cy="1785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080" y="2666206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080" y="2936379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image-based disease detection using state-of-the-art visual AI.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48730" y="2024955"/>
            <a:ext cx="5381490" cy="1240532"/>
          </a:xfrm>
          <a:prstGeom prst="roundRect">
            <a:avLst>
              <a:gd name="adj" fmla="val 448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87335" y="2163564"/>
            <a:ext cx="396865" cy="396875"/>
          </a:xfrm>
          <a:prstGeom prst="ellipse">
            <a:avLst/>
          </a:prstGeom>
          <a:solidFill>
            <a:srgbClr val="D2600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6473" y="2272705"/>
            <a:ext cx="178589" cy="1785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87335" y="2666206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287335" y="2936379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 &amp; Vision Transformer models for high-accuracy crop classification.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61475" y="3371255"/>
            <a:ext cx="5381490" cy="1240532"/>
          </a:xfrm>
          <a:prstGeom prst="roundRect">
            <a:avLst>
              <a:gd name="adj" fmla="val 448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0080" y="3509863"/>
            <a:ext cx="396865" cy="396875"/>
          </a:xfrm>
          <a:prstGeom prst="ellipse">
            <a:avLst/>
          </a:prstGeom>
          <a:solidFill>
            <a:srgbClr val="D2600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9218" y="3619004"/>
            <a:ext cx="178589" cy="1785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0080" y="4012505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Weather Analytics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0080" y="4282678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Pest risk correlated with live weather data for predictive early warnings.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48730" y="3371255"/>
            <a:ext cx="5381490" cy="1240532"/>
          </a:xfrm>
          <a:prstGeom prst="roundRect">
            <a:avLst>
              <a:gd name="adj" fmla="val 448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87335" y="3509863"/>
            <a:ext cx="396865" cy="396875"/>
          </a:xfrm>
          <a:prstGeom prst="ellipse">
            <a:avLst/>
          </a:prstGeom>
          <a:solidFill>
            <a:srgbClr val="D2600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96473" y="3619004"/>
            <a:ext cx="178589" cy="1785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87335" y="4012505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 Recommendation System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87335" y="4282678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Actionable, personalized advice tailored to each farmer's specific conditions.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61475" y="4717554"/>
            <a:ext cx="5381490" cy="1240532"/>
          </a:xfrm>
          <a:prstGeom prst="roundRect">
            <a:avLst>
              <a:gd name="adj" fmla="val 448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0080" y="4856163"/>
            <a:ext cx="396865" cy="396875"/>
          </a:xfrm>
          <a:prstGeom prst="ellipse">
            <a:avLst/>
          </a:prstGeom>
          <a:solidFill>
            <a:srgbClr val="D2600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9218" y="4965303"/>
            <a:ext cx="178589" cy="1785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0080" y="5358805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IoT Integration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00080" y="5628977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Sensor-ready architecture designed for seamless hardware expansion.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48730" y="4717554"/>
            <a:ext cx="5381490" cy="1240532"/>
          </a:xfrm>
          <a:prstGeom prst="roundRect">
            <a:avLst>
              <a:gd name="adj" fmla="val 4480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87335" y="4856163"/>
            <a:ext cx="396865" cy="396875"/>
          </a:xfrm>
          <a:prstGeom prst="ellipse">
            <a:avLst/>
          </a:prstGeom>
          <a:solidFill>
            <a:srgbClr val="D2600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96473" y="4965303"/>
            <a:ext cx="178589" cy="1785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87335" y="5358805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Farmer-Friendly Dashboard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87335" y="5628977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Simple, intuitive UI designed for non-technical users in rural settings.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38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spc="-98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Thank You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6682" y="228123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welcome your questions and feedback.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731889"/>
            <a:ext cx="5470785" cy="1415951"/>
          </a:xfrm>
          <a:prstGeom prst="roundRect">
            <a:avLst>
              <a:gd name="adj" fmla="val 8410"/>
            </a:avLst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2897188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Smart India Hackathon 2025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320951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Statement ID: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SIH25099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89718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3320951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Manthan Kuvadiya | Kunj Lunagariya | Madhav Ajwalia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spc="-26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Department:</a:t>
            </a:r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CSPIT-IT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4537273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AI-Powered Crop Health Monitoring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1475" y="4894957"/>
            <a:ext cx="34850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Computer Vision · Deep Learning · Smart Data Analytics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425" y="4333875"/>
            <a:ext cx="3523170" cy="3810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2" name="Text 10"/>
          <p:cNvSpPr/>
          <p:nvPr/>
        </p:nvSpPr>
        <p:spPr>
          <a:xfrm>
            <a:off x="4353213" y="4537273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End-to-End Intelligent Platform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53213" y="4894957"/>
            <a:ext cx="348517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Disease Detection · Soil Analysis · Pest Risk Prediction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34163" y="4333875"/>
            <a:ext cx="3523269" cy="3810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5" name="Text 13"/>
          <p:cNvSpPr/>
          <p:nvPr/>
        </p:nvSpPr>
        <p:spPr>
          <a:xfrm>
            <a:off x="8045050" y="4537273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4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Built for India's Farmers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5050" y="4894957"/>
            <a:ext cx="34851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Accessible · Actionable · Scalable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26001" y="4333875"/>
            <a:ext cx="3523269" cy="38100"/>
          </a:xfrm>
          <a:prstGeom prst="rect">
            <a:avLst/>
          </a:prstGeom>
          <a:solidFill>
            <a:srgbClr val="D2600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2026-08-17T17:03:53Z</dcterms:created>
  <dcterms:modified xsi:type="dcterms:W3CDTF">2026-08-17T17:03:53Z</dcterms:modified>
</cp:coreProperties>
</file>